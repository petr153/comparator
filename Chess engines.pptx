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7296423-5C2D-4145-888D-BCA34BF1382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B1931B32-D6A8-4230-A7BB-496A560DB3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2719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96423-5C2D-4145-888D-BCA34BF1382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31B32-D6A8-4230-A7BB-496A560DB3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3726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96423-5C2D-4145-888D-BCA34BF1382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31B32-D6A8-4230-A7BB-496A560DB3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4600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96423-5C2D-4145-888D-BCA34BF1382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31B32-D6A8-4230-A7BB-496A560DB3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6709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96423-5C2D-4145-888D-BCA34BF1382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31B32-D6A8-4230-A7BB-496A560DB3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0856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96423-5C2D-4145-888D-BCA34BF1382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31B32-D6A8-4230-A7BB-496A560DB3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9169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96423-5C2D-4145-888D-BCA34BF1382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31B32-D6A8-4230-A7BB-496A560DB3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75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96423-5C2D-4145-888D-BCA34BF1382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31B32-D6A8-4230-A7BB-496A560DB3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7592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96423-5C2D-4145-888D-BCA34BF1382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31B32-D6A8-4230-A7BB-496A560DB3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7705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96423-5C2D-4145-888D-BCA34BF1382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31B32-D6A8-4230-A7BB-496A560DB3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5826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96423-5C2D-4145-888D-BCA34BF1382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31B32-D6A8-4230-A7BB-496A560DB3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6378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96423-5C2D-4145-888D-BCA34BF1382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31B32-D6A8-4230-A7BB-496A560DB3AE}" type="slidenum">
              <a:rPr lang="en-GB" smtClean="0"/>
              <a:t>‹#›</a:t>
            </a:fld>
            <a:endParaRPr lang="en-GB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69840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96423-5C2D-4145-888D-BCA34BF1382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31B32-D6A8-4230-A7BB-496A560DB3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33869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96423-5C2D-4145-888D-BCA34BF1382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31B32-D6A8-4230-A7BB-496A560DB3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03552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96423-5C2D-4145-888D-BCA34BF1382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31B32-D6A8-4230-A7BB-496A560DB3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9808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96423-5C2D-4145-888D-BCA34BF1382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31B32-D6A8-4230-A7BB-496A560DB3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6455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96423-5C2D-4145-888D-BCA34BF1382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31B32-D6A8-4230-A7BB-496A560DB3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344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96423-5C2D-4145-888D-BCA34BF1382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31B32-D6A8-4230-A7BB-496A560DB3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792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roup 83">
            <a:extLst>
              <a:ext uri="{FF2B5EF4-FFF2-40B4-BE49-F238E27FC236}">
                <a16:creationId xmlns:a16="http://schemas.microsoft.com/office/drawing/2014/main" id="{316DCFC9-6877-407C-8170-608FCB8E3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85" name="Rectangle 84">
              <a:extLst>
                <a:ext uri="{FF2B5EF4-FFF2-40B4-BE49-F238E27FC236}">
                  <a16:creationId xmlns:a16="http://schemas.microsoft.com/office/drawing/2014/main" id="{F7D8B73A-1349-4BA6-8F85-03A21ED56E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6" name="Picture 2">
              <a:extLst>
                <a:ext uri="{FF2B5EF4-FFF2-40B4-BE49-F238E27FC236}">
                  <a16:creationId xmlns:a16="http://schemas.microsoft.com/office/drawing/2014/main" id="{969ADA7C-B6B2-4FD7-AA5E-CC52AAE8CD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 descr="Mat na šachovnici">
            <a:extLst>
              <a:ext uri="{FF2B5EF4-FFF2-40B4-BE49-F238E27FC236}">
                <a16:creationId xmlns:a16="http://schemas.microsoft.com/office/drawing/2014/main" id="{421F158E-21F7-B26F-15EB-BEC7E59F66D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t="15389"/>
          <a:stretch>
            <a:fillRect/>
          </a:stretch>
        </p:blipFill>
        <p:spPr>
          <a:xfrm>
            <a:off x="3611" y="10"/>
            <a:ext cx="12188389" cy="6857990"/>
          </a:xfrm>
          <a:prstGeom prst="rect">
            <a:avLst/>
          </a:prstGeom>
        </p:spPr>
      </p:pic>
      <p:grpSp>
        <p:nvGrpSpPr>
          <p:cNvPr id="88" name="Group 87">
            <a:extLst>
              <a:ext uri="{FF2B5EF4-FFF2-40B4-BE49-F238E27FC236}">
                <a16:creationId xmlns:a16="http://schemas.microsoft.com/office/drawing/2014/main" id="{89353FE7-0D03-4AD2-8B8A-60A06F6BD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235200"/>
            <a:ext cx="10982062" cy="2396067"/>
            <a:chOff x="605895" y="2235200"/>
            <a:chExt cx="10982062" cy="2396067"/>
          </a:xfrm>
        </p:grpSpPr>
        <p:sp>
          <p:nvSpPr>
            <p:cNvPr id="89" name="Round Diagonal Corner Rectangle 7">
              <a:extLst>
                <a:ext uri="{FF2B5EF4-FFF2-40B4-BE49-F238E27FC236}">
                  <a16:creationId xmlns:a16="http://schemas.microsoft.com/office/drawing/2014/main" id="{0C7A0320-FBCC-4F40-AF6E-CE65FFB3DA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82333" y="2235200"/>
              <a:ext cx="7027334" cy="2396067"/>
            </a:xfrm>
            <a:prstGeom prst="round2DiagRect">
              <a:avLst>
                <a:gd name="adj1" fmla="val 9246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550A26E4-02C9-4F83-A334-0920B8CCF2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91" name="Freeform 32">
                <a:extLst>
                  <a:ext uri="{FF2B5EF4-FFF2-40B4-BE49-F238E27FC236}">
                    <a16:creationId xmlns:a16="http://schemas.microsoft.com/office/drawing/2014/main" id="{06617CD6-4185-402B-8E23-BC52780534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9653587" y="33797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2" name="Freeform 33">
                <a:extLst>
                  <a:ext uri="{FF2B5EF4-FFF2-40B4-BE49-F238E27FC236}">
                    <a16:creationId xmlns:a16="http://schemas.microsoft.com/office/drawing/2014/main" id="{2C305CC9-3511-47F4-BF11-BC635C30C91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078244" y="33107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3" name="Freeform 34">
                <a:extLst>
                  <a:ext uri="{FF2B5EF4-FFF2-40B4-BE49-F238E27FC236}">
                    <a16:creationId xmlns:a16="http://schemas.microsoft.com/office/drawing/2014/main" id="{5C70C5D1-31E4-48B9-AEB6-6460A2B81F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1146631" y="35742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4" name="Freeform 37">
                <a:extLst>
                  <a:ext uri="{FF2B5EF4-FFF2-40B4-BE49-F238E27FC236}">
                    <a16:creationId xmlns:a16="http://schemas.microsoft.com/office/drawing/2014/main" id="{1F033CE1-D380-43F1-81EC-97B6C86F39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230644" y="30345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5" name="Freeform 35">
                <a:extLst>
                  <a:ext uri="{FF2B5EF4-FFF2-40B4-BE49-F238E27FC236}">
                    <a16:creationId xmlns:a16="http://schemas.microsoft.com/office/drawing/2014/main" id="{6997F95D-DC27-48A3-850A-2308C3C080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034587" y="25627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6" name="Freeform 36">
                <a:extLst>
                  <a:ext uri="{FF2B5EF4-FFF2-40B4-BE49-F238E27FC236}">
                    <a16:creationId xmlns:a16="http://schemas.microsoft.com/office/drawing/2014/main" id="{569AE469-76B7-4FFE-B68B-0D7A77413F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747375" y="32326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7" name="Freeform 38">
                <a:extLst>
                  <a:ext uri="{FF2B5EF4-FFF2-40B4-BE49-F238E27FC236}">
                    <a16:creationId xmlns:a16="http://schemas.microsoft.com/office/drawing/2014/main" id="{DD99CF64-0E82-4D1A-BD2A-08942182F4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1399044" y="30953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8" name="Freeform 39">
                <a:extLst>
                  <a:ext uri="{FF2B5EF4-FFF2-40B4-BE49-F238E27FC236}">
                    <a16:creationId xmlns:a16="http://schemas.microsoft.com/office/drawing/2014/main" id="{98C12D33-1747-4B24-89ED-F441AE4A0C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353675" y="21531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9" name="Freeform 40">
                <a:extLst>
                  <a:ext uri="{FF2B5EF4-FFF2-40B4-BE49-F238E27FC236}">
                    <a16:creationId xmlns:a16="http://schemas.microsoft.com/office/drawing/2014/main" id="{A60200CC-BAEC-4310-8C9B-F7BB783E98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848850" y="33088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0" name="Rectangle 41">
                <a:extLst>
                  <a:ext uri="{FF2B5EF4-FFF2-40B4-BE49-F238E27FC236}">
                    <a16:creationId xmlns:a16="http://schemas.microsoft.com/office/drawing/2014/main" id="{2A7F40BF-B0BE-4B09-87EE-F56632B7ED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721056" y="32842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1" name="Freeform 32">
                <a:extLst>
                  <a:ext uri="{FF2B5EF4-FFF2-40B4-BE49-F238E27FC236}">
                    <a16:creationId xmlns:a16="http://schemas.microsoft.com/office/drawing/2014/main" id="{353978AF-8FB9-4A61-A2EA-1995A14F39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2122751" y="35321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" name="Freeform 33">
                <a:extLst>
                  <a:ext uri="{FF2B5EF4-FFF2-40B4-BE49-F238E27FC236}">
                    <a16:creationId xmlns:a16="http://schemas.microsoft.com/office/drawing/2014/main" id="{B20F89C3-4BAD-42AA-8D31-6F6DF17FE9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958445" y="34631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3" name="Freeform 34">
                <a:extLst>
                  <a:ext uri="{FF2B5EF4-FFF2-40B4-BE49-F238E27FC236}">
                    <a16:creationId xmlns:a16="http://schemas.microsoft.com/office/drawing/2014/main" id="{A60FE276-3FF2-4622-BF99-D4E4B249E5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858308" y="37266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4" name="Freeform 37">
                <a:extLst>
                  <a:ext uri="{FF2B5EF4-FFF2-40B4-BE49-F238E27FC236}">
                    <a16:creationId xmlns:a16="http://schemas.microsoft.com/office/drawing/2014/main" id="{B05A0D3F-808B-48D6-A821-1FE9E86E8C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658407" y="31869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5" name="Freeform 35">
                <a:extLst>
                  <a:ext uri="{FF2B5EF4-FFF2-40B4-BE49-F238E27FC236}">
                    <a16:creationId xmlns:a16="http://schemas.microsoft.com/office/drawing/2014/main" id="{69F7D438-BAA0-4DAD-9BC5-198B677A75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860814" y="27151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6" name="Freeform 36">
                <a:extLst>
                  <a:ext uri="{FF2B5EF4-FFF2-40B4-BE49-F238E27FC236}">
                    <a16:creationId xmlns:a16="http://schemas.microsoft.com/office/drawing/2014/main" id="{EC63B186-43B8-4552-AFDB-A544240A7C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289314" y="33850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7" name="Freeform 38">
                <a:extLst>
                  <a:ext uri="{FF2B5EF4-FFF2-40B4-BE49-F238E27FC236}">
                    <a16:creationId xmlns:a16="http://schemas.microsoft.com/office/drawing/2014/main" id="{8542E82D-01AD-4BD8-8C5F-A6CDAD039B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605895" y="32477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8" name="Freeform 39">
                <a:extLst>
                  <a:ext uri="{FF2B5EF4-FFF2-40B4-BE49-F238E27FC236}">
                    <a16:creationId xmlns:a16="http://schemas.microsoft.com/office/drawing/2014/main" id="{6285CF32-2BD3-47D0-9A6C-3EE7FD6397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532202" y="23055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9" name="Freeform 40">
                <a:extLst>
                  <a:ext uri="{FF2B5EF4-FFF2-40B4-BE49-F238E27FC236}">
                    <a16:creationId xmlns:a16="http://schemas.microsoft.com/office/drawing/2014/main" id="{FA36D129-7B33-4379-B9EE-5624B95766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154501" y="34612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0" name="Rectangle 41">
                <a:extLst>
                  <a:ext uri="{FF2B5EF4-FFF2-40B4-BE49-F238E27FC236}">
                    <a16:creationId xmlns:a16="http://schemas.microsoft.com/office/drawing/2014/main" id="{0229A187-4E69-4262-B001-C5F0B55225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448983" y="34366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A7C9CA41-0A44-A712-5311-0F671F5AA3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2328334"/>
            <a:ext cx="6858000" cy="1367896"/>
          </a:xfrm>
        </p:spPr>
        <p:txBody>
          <a:bodyPr>
            <a:normAutofit/>
          </a:bodyPr>
          <a:lstStyle/>
          <a:p>
            <a:pPr algn="ctr"/>
            <a:r>
              <a:rPr lang="cs-CZ" dirty="0"/>
              <a:t>CHESS ENGINES</a:t>
            </a:r>
            <a:endParaRPr lang="en-GB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516FFA3-3149-8A40-0A29-30E44FCB8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1" y="3602038"/>
            <a:ext cx="6857999" cy="953029"/>
          </a:xfrm>
        </p:spPr>
        <p:txBody>
          <a:bodyPr>
            <a:normAutofit/>
          </a:bodyPr>
          <a:lstStyle/>
          <a:p>
            <a:pPr algn="ctr"/>
            <a:r>
              <a:rPr lang="cs-CZ" dirty="0" err="1"/>
              <a:t>Author</a:t>
            </a:r>
            <a:r>
              <a:rPr lang="cs-CZ" dirty="0"/>
              <a:t>: Petr </a:t>
            </a:r>
            <a:r>
              <a:rPr lang="cs-CZ" dirty="0" err="1"/>
              <a:t>lipus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6775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A2E1934-5BE8-1247-CB8A-431016AC9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cs-CZ" dirty="0"/>
              <a:t>OUTLINE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presentation</a:t>
            </a:r>
            <a:endParaRPr lang="en-GB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75AFF32-4591-590D-393B-8D212C89F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4844521" cy="3541714"/>
          </a:xfrm>
        </p:spPr>
        <p:txBody>
          <a:bodyPr anchor="ctr">
            <a:normAutofit/>
          </a:bodyPr>
          <a:lstStyle/>
          <a:p>
            <a:r>
              <a:rPr lang="cs-CZ" dirty="0" err="1"/>
              <a:t>What</a:t>
            </a:r>
            <a:r>
              <a:rPr lang="cs-CZ" dirty="0"/>
              <a:t> </a:t>
            </a:r>
            <a:r>
              <a:rPr lang="cs-CZ" dirty="0" err="1"/>
              <a:t>is</a:t>
            </a:r>
            <a:r>
              <a:rPr lang="cs-CZ" dirty="0"/>
              <a:t> a </a:t>
            </a:r>
            <a:r>
              <a:rPr lang="cs-CZ" dirty="0" err="1"/>
              <a:t>chess</a:t>
            </a:r>
            <a:r>
              <a:rPr lang="cs-CZ" dirty="0"/>
              <a:t> </a:t>
            </a:r>
            <a:r>
              <a:rPr lang="cs-CZ" dirty="0" err="1"/>
              <a:t>engine</a:t>
            </a:r>
            <a:endParaRPr lang="cs-CZ" dirty="0"/>
          </a:p>
          <a:p>
            <a:r>
              <a:rPr lang="cs-CZ" dirty="0" err="1"/>
              <a:t>How</a:t>
            </a:r>
            <a:r>
              <a:rPr lang="cs-CZ" dirty="0"/>
              <a:t> </a:t>
            </a:r>
            <a:r>
              <a:rPr lang="cs-CZ" dirty="0" err="1"/>
              <a:t>chess</a:t>
            </a:r>
            <a:r>
              <a:rPr lang="cs-CZ" dirty="0"/>
              <a:t> </a:t>
            </a:r>
            <a:r>
              <a:rPr lang="cs-CZ" dirty="0" err="1"/>
              <a:t>engines</a:t>
            </a:r>
            <a:r>
              <a:rPr lang="cs-CZ" dirty="0"/>
              <a:t> </a:t>
            </a:r>
            <a:r>
              <a:rPr lang="cs-CZ" dirty="0" err="1"/>
              <a:t>work</a:t>
            </a:r>
            <a:endParaRPr lang="cs-CZ" dirty="0"/>
          </a:p>
          <a:p>
            <a:r>
              <a:rPr lang="cs-CZ" dirty="0" err="1"/>
              <a:t>Chess</a:t>
            </a:r>
            <a:r>
              <a:rPr lang="cs-CZ" dirty="0"/>
              <a:t> </a:t>
            </a:r>
            <a:r>
              <a:rPr lang="cs-CZ" dirty="0" err="1"/>
              <a:t>engine</a:t>
            </a:r>
            <a:r>
              <a:rPr lang="cs-CZ" dirty="0"/>
              <a:t> </a:t>
            </a:r>
            <a:r>
              <a:rPr lang="cs-CZ" dirty="0" err="1"/>
              <a:t>strength</a:t>
            </a:r>
            <a:endParaRPr lang="cs-CZ" dirty="0"/>
          </a:p>
          <a:p>
            <a:r>
              <a:rPr lang="cs-CZ" dirty="0" err="1"/>
              <a:t>World</a:t>
            </a:r>
            <a:r>
              <a:rPr lang="cs-CZ" dirty="0"/>
              <a:t> </a:t>
            </a:r>
            <a:r>
              <a:rPr lang="cs-CZ" dirty="0" err="1"/>
              <a:t>computer</a:t>
            </a:r>
            <a:r>
              <a:rPr lang="cs-CZ" dirty="0"/>
              <a:t> </a:t>
            </a:r>
            <a:r>
              <a:rPr lang="cs-CZ" dirty="0" err="1"/>
              <a:t>chess</a:t>
            </a:r>
            <a:r>
              <a:rPr lang="cs-CZ" dirty="0"/>
              <a:t> </a:t>
            </a:r>
            <a:r>
              <a:rPr lang="cs-CZ" dirty="0" err="1"/>
              <a:t>championship</a:t>
            </a:r>
            <a:endParaRPr lang="cs-CZ" dirty="0"/>
          </a:p>
          <a:p>
            <a:r>
              <a:rPr lang="cs-CZ" dirty="0" err="1"/>
              <a:t>Chess</a:t>
            </a:r>
            <a:r>
              <a:rPr lang="cs-CZ" dirty="0"/>
              <a:t> </a:t>
            </a:r>
            <a:r>
              <a:rPr lang="cs-CZ" dirty="0" err="1"/>
              <a:t>engines</a:t>
            </a:r>
            <a:r>
              <a:rPr lang="cs-CZ" dirty="0"/>
              <a:t> </a:t>
            </a:r>
            <a:r>
              <a:rPr lang="cs-CZ" dirty="0" err="1"/>
              <a:t>today</a:t>
            </a:r>
            <a:endParaRPr lang="cs-CZ" dirty="0"/>
          </a:p>
          <a:p>
            <a:r>
              <a:rPr lang="cs-CZ" dirty="0" err="1"/>
              <a:t>Kasparov</a:t>
            </a:r>
            <a:r>
              <a:rPr lang="cs-CZ" dirty="0"/>
              <a:t> vs. THE WORLD</a:t>
            </a:r>
          </a:p>
          <a:p>
            <a:endParaRPr lang="en-GB" dirty="0"/>
          </a:p>
        </p:txBody>
      </p:sp>
      <p:pic>
        <p:nvPicPr>
          <p:cNvPr id="7170" name="Picture 2" descr="How good do you think Dio is at chess? You can give an estimated rating. :  r/StardustCrusaders">
            <a:extLst>
              <a:ext uri="{FF2B5EF4-FFF2-40B4-BE49-F238E27FC236}">
                <a16:creationId xmlns:a16="http://schemas.microsoft.com/office/drawing/2014/main" id="{49243EE0-939E-BBEE-9726-8E334E82F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470" b="-1"/>
          <a:stretch>
            <a:fillRect/>
          </a:stretch>
        </p:blipFill>
        <p:spPr bwMode="auto">
          <a:xfrm>
            <a:off x="6392335" y="2497720"/>
            <a:ext cx="4655075" cy="3047892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2832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53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E7EC5C8A-707D-A666-F02F-33A452CA0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>
            <a:normAutofit/>
          </a:bodyPr>
          <a:lstStyle/>
          <a:p>
            <a:r>
              <a:rPr lang="cs-CZ" sz="3200"/>
              <a:t>What is a chess engine?</a:t>
            </a:r>
            <a:endParaRPr lang="en-GB" sz="320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9AD5660-DE0C-D5CE-B3A4-07B72B5F2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4084637" cy="3965046"/>
          </a:xfrm>
        </p:spPr>
        <p:txBody>
          <a:bodyPr>
            <a:normAutofit/>
          </a:bodyPr>
          <a:lstStyle/>
          <a:p>
            <a:r>
              <a:rPr lang="cs-CZ" dirty="0" err="1"/>
              <a:t>Currently</a:t>
            </a:r>
            <a:r>
              <a:rPr lang="cs-CZ" dirty="0"/>
              <a:t> software, in </a:t>
            </a:r>
            <a:r>
              <a:rPr lang="cs-CZ" dirty="0" err="1"/>
              <a:t>history</a:t>
            </a:r>
            <a:r>
              <a:rPr lang="cs-CZ" dirty="0"/>
              <a:t> hardware</a:t>
            </a:r>
          </a:p>
          <a:p>
            <a:r>
              <a:rPr lang="cs-CZ" dirty="0" err="1"/>
              <a:t>Analysis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chess</a:t>
            </a:r>
            <a:r>
              <a:rPr lang="cs-CZ" dirty="0"/>
              <a:t> variant </a:t>
            </a:r>
            <a:r>
              <a:rPr lang="cs-CZ" dirty="0" err="1"/>
              <a:t>positions</a:t>
            </a:r>
            <a:endParaRPr lang="cs-CZ" dirty="0"/>
          </a:p>
          <a:p>
            <a:r>
              <a:rPr lang="cs-CZ" dirty="0" err="1"/>
              <a:t>Generation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predicted</a:t>
            </a:r>
            <a:r>
              <a:rPr lang="cs-CZ" dirty="0"/>
              <a:t> </a:t>
            </a:r>
            <a:r>
              <a:rPr lang="cs-CZ" dirty="0" err="1"/>
              <a:t>strongest</a:t>
            </a:r>
            <a:r>
              <a:rPr lang="cs-CZ" dirty="0"/>
              <a:t> </a:t>
            </a:r>
            <a:r>
              <a:rPr lang="cs-CZ" dirty="0" err="1"/>
              <a:t>move</a:t>
            </a:r>
            <a:endParaRPr lang="cs-CZ" dirty="0"/>
          </a:p>
          <a:p>
            <a:r>
              <a:rPr lang="cs-CZ" dirty="0"/>
              <a:t>Use-case: </a:t>
            </a:r>
            <a:r>
              <a:rPr lang="cs-CZ" dirty="0" err="1"/>
              <a:t>training</a:t>
            </a:r>
            <a:r>
              <a:rPr lang="cs-CZ" dirty="0"/>
              <a:t>, </a:t>
            </a:r>
            <a:r>
              <a:rPr lang="cs-CZ" dirty="0" err="1"/>
              <a:t>analysis</a:t>
            </a:r>
            <a:r>
              <a:rPr lang="cs-CZ" dirty="0"/>
              <a:t>, </a:t>
            </a:r>
            <a:r>
              <a:rPr lang="cs-CZ" dirty="0" err="1"/>
              <a:t>cheating</a:t>
            </a:r>
            <a:r>
              <a:rPr lang="cs-CZ" dirty="0"/>
              <a:t> </a:t>
            </a:r>
            <a:r>
              <a:rPr lang="cs-CZ" dirty="0" err="1"/>
              <a:t>detection</a:t>
            </a:r>
            <a:endParaRPr lang="cs-CZ" dirty="0"/>
          </a:p>
        </p:txBody>
      </p:sp>
      <p:pic>
        <p:nvPicPr>
          <p:cNvPr id="6146" name="Picture 2" descr="What Makes A Good Chess Engine? – House of Staunton">
            <a:extLst>
              <a:ext uri="{FF2B5EF4-FFF2-40B4-BE49-F238E27FC236}">
                <a16:creationId xmlns:a16="http://schemas.microsoft.com/office/drawing/2014/main" id="{838B2972-3EB1-A2B9-732B-15BEFD0107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64092" y="1662642"/>
            <a:ext cx="6761233" cy="3853903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155" name="Group 6154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156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57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58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59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60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61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62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63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64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65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66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67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168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69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70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71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72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73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74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75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76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77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78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79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80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81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82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94652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3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B83C1C3B-CC98-F568-A014-14A3B5AF9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>
            <a:normAutofit/>
          </a:bodyPr>
          <a:lstStyle/>
          <a:p>
            <a:r>
              <a:rPr lang="cs-CZ" sz="3200"/>
              <a:t>How chess engines work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606D6D5-4909-D9DF-1719-86D87D830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4459287" cy="3965046"/>
          </a:xfrm>
        </p:spPr>
        <p:txBody>
          <a:bodyPr>
            <a:normAutofit fontScale="92500"/>
          </a:bodyPr>
          <a:lstStyle/>
          <a:p>
            <a:r>
              <a:rPr lang="cs-CZ" dirty="0" err="1"/>
              <a:t>Decision</a:t>
            </a:r>
            <a:r>
              <a:rPr lang="cs-CZ" dirty="0"/>
              <a:t> </a:t>
            </a:r>
            <a:r>
              <a:rPr lang="cs-CZ" dirty="0" err="1"/>
              <a:t>tree</a:t>
            </a:r>
            <a:r>
              <a:rPr lang="cs-CZ" dirty="0"/>
              <a:t> </a:t>
            </a:r>
            <a:r>
              <a:rPr lang="cs-CZ" dirty="0" err="1"/>
              <a:t>from</a:t>
            </a:r>
            <a:r>
              <a:rPr lang="cs-CZ" dirty="0"/>
              <a:t> </a:t>
            </a:r>
            <a:r>
              <a:rPr lang="cs-CZ" dirty="0" err="1"/>
              <a:t>possible</a:t>
            </a:r>
            <a:r>
              <a:rPr lang="cs-CZ" dirty="0"/>
              <a:t> </a:t>
            </a:r>
            <a:r>
              <a:rPr lang="cs-CZ" dirty="0" err="1"/>
              <a:t>moves</a:t>
            </a:r>
            <a:endParaRPr lang="cs-CZ" dirty="0"/>
          </a:p>
          <a:p>
            <a:r>
              <a:rPr lang="cs-CZ" dirty="0" err="1"/>
              <a:t>Aplha</a:t>
            </a:r>
            <a:r>
              <a:rPr lang="cs-CZ" dirty="0"/>
              <a:t>-beta </a:t>
            </a:r>
            <a:r>
              <a:rPr lang="cs-CZ" dirty="0" err="1"/>
              <a:t>pruning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branches</a:t>
            </a:r>
            <a:endParaRPr lang="cs-CZ" dirty="0"/>
          </a:p>
          <a:p>
            <a:r>
              <a:rPr lang="cs-CZ" dirty="0"/>
              <a:t>Minimax </a:t>
            </a:r>
            <a:r>
              <a:rPr lang="cs-CZ" dirty="0" err="1"/>
              <a:t>algorithm</a:t>
            </a:r>
            <a:endParaRPr lang="cs-CZ" dirty="0"/>
          </a:p>
          <a:p>
            <a:r>
              <a:rPr lang="cs-CZ" dirty="0" err="1"/>
              <a:t>Evaluation</a:t>
            </a:r>
            <a:r>
              <a:rPr lang="cs-CZ" dirty="0"/>
              <a:t> </a:t>
            </a:r>
            <a:r>
              <a:rPr lang="cs-CZ" dirty="0" err="1"/>
              <a:t>function</a:t>
            </a:r>
            <a:r>
              <a:rPr lang="cs-CZ" dirty="0"/>
              <a:t>: </a:t>
            </a:r>
            <a:r>
              <a:rPr lang="cs-CZ" dirty="0" err="1"/>
              <a:t>material</a:t>
            </a:r>
            <a:r>
              <a:rPr lang="cs-CZ" dirty="0"/>
              <a:t>, aktivity, </a:t>
            </a:r>
            <a:r>
              <a:rPr lang="cs-CZ" dirty="0" err="1"/>
              <a:t>position</a:t>
            </a:r>
            <a:endParaRPr lang="cs-CZ" dirty="0"/>
          </a:p>
          <a:p>
            <a:r>
              <a:rPr lang="cs-CZ" dirty="0" err="1"/>
              <a:t>Classical</a:t>
            </a:r>
            <a:r>
              <a:rPr lang="cs-CZ" dirty="0"/>
              <a:t> </a:t>
            </a:r>
            <a:r>
              <a:rPr lang="cs-CZ" dirty="0" err="1"/>
              <a:t>engines</a:t>
            </a:r>
            <a:r>
              <a:rPr lang="cs-CZ" dirty="0"/>
              <a:t>: </a:t>
            </a:r>
            <a:r>
              <a:rPr lang="cs-CZ" dirty="0" err="1"/>
              <a:t>Stockfish</a:t>
            </a:r>
            <a:endParaRPr lang="cs-CZ" dirty="0"/>
          </a:p>
          <a:p>
            <a:r>
              <a:rPr lang="cs-CZ" dirty="0" err="1"/>
              <a:t>Neural</a:t>
            </a:r>
            <a:r>
              <a:rPr lang="cs-CZ" dirty="0"/>
              <a:t> network </a:t>
            </a:r>
            <a:r>
              <a:rPr lang="cs-CZ" dirty="0" err="1"/>
              <a:t>engines</a:t>
            </a:r>
            <a:r>
              <a:rPr lang="cs-CZ" dirty="0"/>
              <a:t>: </a:t>
            </a:r>
            <a:r>
              <a:rPr lang="cs-CZ" dirty="0" err="1"/>
              <a:t>AlphaZero</a:t>
            </a:r>
            <a:endParaRPr lang="en-GB" dirty="0"/>
          </a:p>
        </p:txBody>
      </p:sp>
      <p:pic>
        <p:nvPicPr>
          <p:cNvPr id="1026" name="Picture 2" descr="The Minimax Algorithm. A/N: This is the final assignment for… | by  PointlessVenture | Medium">
            <a:extLst>
              <a:ext uri="{FF2B5EF4-FFF2-40B4-BE49-F238E27FC236}">
                <a16:creationId xmlns:a16="http://schemas.microsoft.com/office/drawing/2014/main" id="{18279333-6BAA-2202-C026-E1A563D6F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974841"/>
            <a:ext cx="5456279" cy="4883369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36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37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38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39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40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41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42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43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44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45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46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47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48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49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50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51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52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53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54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55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56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57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58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59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60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61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62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885894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4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4998F981-8C49-40E0-0B77-1792F3C5C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>
            <a:normAutofit/>
          </a:bodyPr>
          <a:lstStyle/>
          <a:p>
            <a:r>
              <a:rPr lang="cs-CZ" sz="3200"/>
              <a:t>CHESS ENGINE STRENGth</a:t>
            </a:r>
            <a:endParaRPr lang="en-GB" sz="320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7C64B85-E031-C2F3-29A5-FDF8090AA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4459287" cy="3965046"/>
          </a:xfrm>
        </p:spPr>
        <p:txBody>
          <a:bodyPr>
            <a:normAutofit/>
          </a:bodyPr>
          <a:lstStyle/>
          <a:p>
            <a:r>
              <a:rPr lang="en-US" sz="2000" noProof="0"/>
              <a:t>Measured by ELO: official chess rating</a:t>
            </a:r>
          </a:p>
          <a:p>
            <a:r>
              <a:rPr lang="en-US" sz="2000" noProof="0"/>
              <a:t>1997: Deep Blue defeated Garry Kasparov</a:t>
            </a:r>
          </a:p>
          <a:p>
            <a:r>
              <a:rPr lang="en-US" sz="2000" noProof="0"/>
              <a:t>Top chess engines: 3500-3800 ELO</a:t>
            </a:r>
          </a:p>
          <a:p>
            <a:r>
              <a:rPr lang="en-US" sz="2000" noProof="0"/>
              <a:t>Dependent on hardware</a:t>
            </a:r>
          </a:p>
          <a:p>
            <a:r>
              <a:rPr lang="en-US" sz="2000" noProof="0"/>
              <a:t>Dependent on available databases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F59EAF-0139-284C-74A0-3672F6E662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214" r="38740"/>
          <a:stretch>
            <a:fillRect/>
          </a:stretch>
        </p:blipFill>
        <p:spPr>
          <a:xfrm>
            <a:off x="6334733" y="618518"/>
            <a:ext cx="4978812" cy="5596015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76" name="Group 75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77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8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9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0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1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2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3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4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5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6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7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8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9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0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1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6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7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8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9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0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1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3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540992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0C50798-63B5-2F58-B9B6-BF87998C6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World</a:t>
            </a:r>
            <a:r>
              <a:rPr lang="cs-CZ" dirty="0"/>
              <a:t> </a:t>
            </a:r>
            <a:r>
              <a:rPr lang="cs-CZ" dirty="0" err="1"/>
              <a:t>computer</a:t>
            </a:r>
            <a:r>
              <a:rPr lang="cs-CZ" dirty="0"/>
              <a:t> </a:t>
            </a:r>
            <a:r>
              <a:rPr lang="cs-CZ" dirty="0" err="1"/>
              <a:t>chess</a:t>
            </a:r>
            <a:r>
              <a:rPr lang="cs-CZ" dirty="0"/>
              <a:t> </a:t>
            </a:r>
            <a:r>
              <a:rPr lang="cs-CZ" dirty="0" err="1"/>
              <a:t>championship</a:t>
            </a:r>
            <a:endParaRPr lang="en-GB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30B45E4-AD0C-469A-7A5F-DCBDDD096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092319"/>
          </a:xfrm>
        </p:spPr>
        <p:txBody>
          <a:bodyPr>
            <a:normAutofit fontScale="92500" lnSpcReduction="10000"/>
          </a:bodyPr>
          <a:lstStyle/>
          <a:p>
            <a:r>
              <a:rPr lang="cs-CZ" dirty="0"/>
              <a:t>An </a:t>
            </a:r>
            <a:r>
              <a:rPr lang="cs-CZ" dirty="0" err="1"/>
              <a:t>international</a:t>
            </a:r>
            <a:r>
              <a:rPr lang="cs-CZ" dirty="0"/>
              <a:t> </a:t>
            </a:r>
            <a:r>
              <a:rPr lang="cs-CZ" dirty="0" err="1"/>
              <a:t>tournament</a:t>
            </a:r>
            <a:r>
              <a:rPr lang="cs-CZ" dirty="0"/>
              <a:t> </a:t>
            </a:r>
            <a:r>
              <a:rPr lang="cs-CZ" dirty="0" err="1"/>
              <a:t>for</a:t>
            </a:r>
            <a:r>
              <a:rPr lang="cs-CZ" dirty="0"/>
              <a:t> </a:t>
            </a:r>
            <a:r>
              <a:rPr lang="cs-CZ" dirty="0" err="1"/>
              <a:t>chess</a:t>
            </a:r>
            <a:r>
              <a:rPr lang="cs-CZ" dirty="0"/>
              <a:t> </a:t>
            </a:r>
            <a:r>
              <a:rPr lang="cs-CZ" dirty="0" err="1"/>
              <a:t>programs</a:t>
            </a:r>
            <a:endParaRPr lang="cs-CZ" dirty="0"/>
          </a:p>
          <a:p>
            <a:r>
              <a:rPr lang="cs-CZ" dirty="0" err="1"/>
              <a:t>Heavily</a:t>
            </a:r>
            <a:r>
              <a:rPr lang="cs-CZ" dirty="0"/>
              <a:t> </a:t>
            </a:r>
            <a:r>
              <a:rPr lang="cs-CZ" dirty="0" err="1"/>
              <a:t>dependent</a:t>
            </a:r>
            <a:r>
              <a:rPr lang="cs-CZ" dirty="0"/>
              <a:t> on hardware</a:t>
            </a:r>
          </a:p>
          <a:p>
            <a:r>
              <a:rPr lang="cs-CZ" dirty="0" err="1"/>
              <a:t>World</a:t>
            </a:r>
            <a:r>
              <a:rPr lang="cs-CZ" dirty="0"/>
              <a:t> </a:t>
            </a:r>
            <a:r>
              <a:rPr lang="cs-CZ" dirty="0" err="1"/>
              <a:t>Chess</a:t>
            </a:r>
            <a:r>
              <a:rPr lang="cs-CZ" dirty="0"/>
              <a:t> Software </a:t>
            </a:r>
            <a:r>
              <a:rPr lang="cs-CZ" dirty="0" err="1"/>
              <a:t>Championship</a:t>
            </a:r>
            <a:endParaRPr lang="cs-CZ" dirty="0"/>
          </a:p>
          <a:p>
            <a:r>
              <a:rPr lang="cs-CZ" dirty="0"/>
              <a:t>1974 </a:t>
            </a:r>
            <a:r>
              <a:rPr lang="cs-CZ" dirty="0" err="1"/>
              <a:t>till</a:t>
            </a:r>
            <a:r>
              <a:rPr lang="cs-CZ" dirty="0"/>
              <a:t> </a:t>
            </a:r>
            <a:r>
              <a:rPr lang="cs-CZ" dirty="0" err="1"/>
              <a:t>today</a:t>
            </a:r>
            <a:endParaRPr lang="cs-CZ" dirty="0"/>
          </a:p>
          <a:p>
            <a:r>
              <a:rPr lang="cs-CZ" dirty="0" err="1"/>
              <a:t>Notable</a:t>
            </a:r>
            <a:r>
              <a:rPr lang="cs-CZ" dirty="0"/>
              <a:t> </a:t>
            </a:r>
            <a:r>
              <a:rPr lang="cs-CZ" dirty="0" err="1"/>
              <a:t>winners</a:t>
            </a:r>
            <a:r>
              <a:rPr lang="cs-CZ" dirty="0"/>
              <a:t>:</a:t>
            </a:r>
          </a:p>
          <a:p>
            <a:pPr lvl="5"/>
            <a:r>
              <a:rPr lang="cs-CZ" sz="2200" dirty="0" err="1"/>
              <a:t>Cray</a:t>
            </a:r>
            <a:r>
              <a:rPr lang="cs-CZ" sz="2200" dirty="0"/>
              <a:t> </a:t>
            </a:r>
            <a:r>
              <a:rPr lang="cs-CZ" sz="2200" dirty="0" err="1"/>
              <a:t>Blitz</a:t>
            </a:r>
            <a:r>
              <a:rPr lang="cs-CZ" sz="2200" dirty="0"/>
              <a:t>: </a:t>
            </a:r>
            <a:r>
              <a:rPr lang="cs-CZ" sz="2200" dirty="0" err="1"/>
              <a:t>pure</a:t>
            </a:r>
            <a:r>
              <a:rPr lang="cs-CZ" sz="2200" dirty="0"/>
              <a:t> hardware </a:t>
            </a:r>
            <a:r>
              <a:rPr lang="cs-CZ" sz="2200" dirty="0" err="1"/>
              <a:t>victory</a:t>
            </a:r>
            <a:endParaRPr lang="cs-CZ" sz="2200" dirty="0"/>
          </a:p>
          <a:p>
            <a:pPr lvl="5"/>
            <a:r>
              <a:rPr lang="cs-CZ" sz="2200" dirty="0" err="1"/>
              <a:t>Deep</a:t>
            </a:r>
            <a:r>
              <a:rPr lang="cs-CZ" sz="2200" dirty="0"/>
              <a:t> </a:t>
            </a:r>
            <a:r>
              <a:rPr lang="cs-CZ" sz="2200" dirty="0" err="1"/>
              <a:t>Thought</a:t>
            </a:r>
            <a:r>
              <a:rPr lang="cs-CZ" sz="2200" dirty="0"/>
              <a:t>: </a:t>
            </a:r>
            <a:r>
              <a:rPr lang="cs-CZ" sz="2200" dirty="0" err="1"/>
              <a:t>precursor</a:t>
            </a:r>
            <a:r>
              <a:rPr lang="cs-CZ" sz="2200" dirty="0"/>
              <a:t> </a:t>
            </a:r>
            <a:r>
              <a:rPr lang="cs-CZ" sz="2200" dirty="0" err="1"/>
              <a:t>of</a:t>
            </a:r>
            <a:r>
              <a:rPr lang="cs-CZ" sz="2200" dirty="0"/>
              <a:t> </a:t>
            </a:r>
            <a:r>
              <a:rPr lang="cs-CZ" sz="2200" dirty="0" err="1"/>
              <a:t>Deep</a:t>
            </a:r>
            <a:r>
              <a:rPr lang="cs-CZ" sz="2200" dirty="0"/>
              <a:t> Blue, </a:t>
            </a:r>
            <a:r>
              <a:rPr lang="cs-CZ" sz="2200" dirty="0" err="1"/>
              <a:t>grandmaster</a:t>
            </a:r>
            <a:r>
              <a:rPr lang="cs-CZ" sz="2200" dirty="0"/>
              <a:t> level</a:t>
            </a:r>
          </a:p>
          <a:p>
            <a:pPr lvl="5"/>
            <a:r>
              <a:rPr lang="cs-CZ" sz="2200" dirty="0" err="1"/>
              <a:t>Shredder</a:t>
            </a:r>
            <a:r>
              <a:rPr lang="cs-CZ" sz="2200" dirty="0"/>
              <a:t>: </a:t>
            </a:r>
            <a:r>
              <a:rPr lang="cs-CZ" sz="2200" dirty="0" err="1"/>
              <a:t>first</a:t>
            </a:r>
            <a:r>
              <a:rPr lang="cs-CZ" sz="2200" dirty="0"/>
              <a:t> </a:t>
            </a:r>
            <a:r>
              <a:rPr lang="cs-CZ" sz="2200" dirty="0" err="1"/>
              <a:t>widely</a:t>
            </a:r>
            <a:r>
              <a:rPr lang="cs-CZ" sz="2200" dirty="0"/>
              <a:t> user </a:t>
            </a:r>
            <a:r>
              <a:rPr lang="cs-CZ" sz="2200" dirty="0" err="1"/>
              <a:t>engine</a:t>
            </a:r>
            <a:r>
              <a:rPr lang="cs-CZ" sz="2200" dirty="0"/>
              <a:t>, </a:t>
            </a:r>
            <a:r>
              <a:rPr lang="cs-CZ" sz="2200" dirty="0" err="1"/>
              <a:t>balanced</a:t>
            </a:r>
            <a:endParaRPr lang="cs-CZ" sz="2200" dirty="0"/>
          </a:p>
          <a:p>
            <a:pPr lvl="5"/>
            <a:r>
              <a:rPr lang="cs-CZ" sz="2200" dirty="0"/>
              <a:t>Junior: </a:t>
            </a:r>
            <a:r>
              <a:rPr lang="cs-CZ" sz="2200" dirty="0" err="1"/>
              <a:t>agressive</a:t>
            </a:r>
            <a:r>
              <a:rPr lang="cs-CZ" sz="2200" dirty="0"/>
              <a:t> style</a:t>
            </a:r>
          </a:p>
        </p:txBody>
      </p:sp>
    </p:spTree>
    <p:extLst>
      <p:ext uri="{BB962C8B-B14F-4D97-AF65-F5344CB8AC3E}">
        <p14:creationId xmlns:p14="http://schemas.microsoft.com/office/powerpoint/2010/main" val="1432962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0E5ADAF-4CEC-1DE7-65E2-56E77DFEB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Chess</a:t>
            </a:r>
            <a:r>
              <a:rPr lang="cs-CZ" dirty="0"/>
              <a:t> </a:t>
            </a:r>
            <a:r>
              <a:rPr lang="cs-CZ" dirty="0" err="1"/>
              <a:t>engines</a:t>
            </a:r>
            <a:r>
              <a:rPr lang="cs-CZ" dirty="0"/>
              <a:t> </a:t>
            </a:r>
            <a:r>
              <a:rPr lang="cs-CZ" dirty="0" err="1"/>
              <a:t>today</a:t>
            </a:r>
            <a:endParaRPr lang="en-GB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B0CB46D-A890-CCA6-3F75-0C6BAFB4A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Hybrid </a:t>
            </a:r>
            <a:r>
              <a:rPr lang="cs-CZ" dirty="0" err="1"/>
              <a:t>aproach</a:t>
            </a:r>
            <a:r>
              <a:rPr lang="cs-CZ" dirty="0"/>
              <a:t>: </a:t>
            </a:r>
            <a:r>
              <a:rPr lang="cs-CZ" dirty="0" err="1"/>
              <a:t>move</a:t>
            </a:r>
            <a:r>
              <a:rPr lang="cs-CZ" dirty="0"/>
              <a:t> </a:t>
            </a:r>
            <a:r>
              <a:rPr lang="cs-CZ" dirty="0" err="1"/>
              <a:t>databases</a:t>
            </a:r>
            <a:r>
              <a:rPr lang="cs-CZ" dirty="0"/>
              <a:t>, </a:t>
            </a:r>
            <a:r>
              <a:rPr lang="cs-CZ" dirty="0" err="1"/>
              <a:t>brute-force</a:t>
            </a:r>
            <a:r>
              <a:rPr lang="cs-CZ" dirty="0"/>
              <a:t> </a:t>
            </a:r>
            <a:r>
              <a:rPr lang="cs-CZ" dirty="0" err="1"/>
              <a:t>search</a:t>
            </a:r>
            <a:r>
              <a:rPr lang="cs-CZ" dirty="0"/>
              <a:t>, </a:t>
            </a:r>
            <a:r>
              <a:rPr lang="cs-CZ" dirty="0" err="1"/>
              <a:t>neural</a:t>
            </a:r>
            <a:r>
              <a:rPr lang="cs-CZ" dirty="0"/>
              <a:t> </a:t>
            </a:r>
            <a:r>
              <a:rPr lang="cs-CZ" dirty="0" err="1"/>
              <a:t>networks</a:t>
            </a:r>
            <a:endParaRPr lang="cs-CZ" dirty="0"/>
          </a:p>
          <a:p>
            <a:r>
              <a:rPr lang="cs-CZ" dirty="0" err="1"/>
              <a:t>Gukesh</a:t>
            </a:r>
            <a:r>
              <a:rPr lang="cs-CZ" dirty="0"/>
              <a:t> </a:t>
            </a:r>
            <a:r>
              <a:rPr lang="cs-CZ" dirty="0" err="1"/>
              <a:t>Dommaraju</a:t>
            </a:r>
            <a:r>
              <a:rPr lang="cs-CZ" dirty="0"/>
              <a:t>: 2732</a:t>
            </a:r>
          </a:p>
          <a:p>
            <a:r>
              <a:rPr lang="cs-CZ" dirty="0" err="1"/>
              <a:t>Magnus</a:t>
            </a:r>
            <a:r>
              <a:rPr lang="cs-CZ" dirty="0"/>
              <a:t> </a:t>
            </a:r>
            <a:r>
              <a:rPr lang="cs-CZ" dirty="0" err="1"/>
              <a:t>Carlsen</a:t>
            </a:r>
            <a:r>
              <a:rPr lang="cs-CZ" dirty="0"/>
              <a:t>: 2840</a:t>
            </a:r>
          </a:p>
          <a:p>
            <a:r>
              <a:rPr lang="cs-CZ" dirty="0" err="1"/>
              <a:t>Stockfish</a:t>
            </a:r>
            <a:r>
              <a:rPr lang="cs-CZ" dirty="0"/>
              <a:t>: open-source</a:t>
            </a:r>
          </a:p>
          <a:p>
            <a:r>
              <a:rPr lang="cs-CZ" dirty="0" err="1"/>
              <a:t>Extremely</a:t>
            </a:r>
            <a:r>
              <a:rPr lang="cs-CZ" dirty="0"/>
              <a:t> fast, </a:t>
            </a:r>
            <a:r>
              <a:rPr lang="cs-CZ" dirty="0" err="1"/>
              <a:t>accurate</a:t>
            </a:r>
            <a:endParaRPr lang="cs-CZ" dirty="0"/>
          </a:p>
          <a:p>
            <a:endParaRPr lang="cs-CZ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B8140CF-D8B4-EF1C-C92B-081E0D9AAC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5492" y="2561492"/>
            <a:ext cx="4296508" cy="4296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2009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C1E042A-852B-65FA-5344-95C03349D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Kasparov</a:t>
            </a:r>
            <a:r>
              <a:rPr lang="cs-CZ" dirty="0"/>
              <a:t> vs.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world</a:t>
            </a:r>
            <a:endParaRPr lang="en-GB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4AD0446-CB29-14CA-C3CB-502E05479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1999</a:t>
            </a:r>
          </a:p>
          <a:p>
            <a:r>
              <a:rPr lang="cs-CZ" dirty="0" err="1"/>
              <a:t>Chess</a:t>
            </a:r>
            <a:r>
              <a:rPr lang="cs-CZ" dirty="0"/>
              <a:t> </a:t>
            </a:r>
            <a:r>
              <a:rPr lang="cs-CZ" dirty="0" err="1"/>
              <a:t>engine</a:t>
            </a:r>
            <a:r>
              <a:rPr lang="cs-CZ" dirty="0"/>
              <a:t> </a:t>
            </a:r>
            <a:r>
              <a:rPr lang="cs-CZ" dirty="0" err="1"/>
              <a:t>assistance</a:t>
            </a:r>
            <a:endParaRPr lang="cs-CZ" dirty="0"/>
          </a:p>
          <a:p>
            <a:r>
              <a:rPr lang="cs-CZ" dirty="0"/>
              <a:t>1 vs. 50 000</a:t>
            </a:r>
          </a:p>
          <a:p>
            <a:r>
              <a:rPr lang="cs-CZ" dirty="0" err="1"/>
              <a:t>Forced</a:t>
            </a:r>
            <a:r>
              <a:rPr lang="cs-CZ" dirty="0"/>
              <a:t> </a:t>
            </a:r>
            <a:r>
              <a:rPr lang="cs-CZ" dirty="0" err="1"/>
              <a:t>checkmate</a:t>
            </a:r>
            <a:r>
              <a:rPr lang="cs-CZ" dirty="0"/>
              <a:t> in 28 </a:t>
            </a:r>
            <a:r>
              <a:rPr lang="cs-CZ" dirty="0" err="1"/>
              <a:t>moves</a:t>
            </a:r>
            <a:endParaRPr lang="en-GB" dirty="0"/>
          </a:p>
        </p:txBody>
      </p:sp>
      <p:pic>
        <p:nvPicPr>
          <p:cNvPr id="3076" name="Picture 4" descr="Garry Kasparov on AI, Democracy &amp; the Fight for Freedom - Thought Economics">
            <a:extLst>
              <a:ext uri="{FF2B5EF4-FFF2-40B4-BE49-F238E27FC236}">
                <a16:creationId xmlns:a16="http://schemas.microsoft.com/office/drawing/2014/main" id="{0E19F158-FA5E-22BD-8579-102E1188C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5480" y="2978708"/>
            <a:ext cx="6896519" cy="3879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9347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4102">
            <a:extLst>
              <a:ext uri="{FF2B5EF4-FFF2-40B4-BE49-F238E27FC236}">
                <a16:creationId xmlns:a16="http://schemas.microsoft.com/office/drawing/2014/main" id="{3CBA50DB-DBC7-4B6E-B3C1-8FF1EA519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05" name="Group 4104">
            <a:extLst>
              <a:ext uri="{FF2B5EF4-FFF2-40B4-BE49-F238E27FC236}">
                <a16:creationId xmlns:a16="http://schemas.microsoft.com/office/drawing/2014/main" id="{1DED8FB6-AF8D-4D98-913D-E6486FEC1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1902285" cy="6858001"/>
            <a:chOff x="0" y="0"/>
            <a:chExt cx="11902285" cy="6858001"/>
          </a:xfrm>
        </p:grpSpPr>
        <p:grpSp>
          <p:nvGrpSpPr>
            <p:cNvPr id="4106" name="Group 4105">
              <a:extLst>
                <a:ext uri="{FF2B5EF4-FFF2-40B4-BE49-F238E27FC236}">
                  <a16:creationId xmlns:a16="http://schemas.microsoft.com/office/drawing/2014/main" id="{0A805ED2-113B-4584-8827-567B5792F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4118" name="Rectangle 5">
                <a:extLst>
                  <a:ext uri="{FF2B5EF4-FFF2-40B4-BE49-F238E27FC236}">
                    <a16:creationId xmlns:a16="http://schemas.microsoft.com/office/drawing/2014/main" id="{C6CF21D8-CC72-4F35-A29E-3AF9E6DA13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19" name="Freeform 6">
                <a:extLst>
                  <a:ext uri="{FF2B5EF4-FFF2-40B4-BE49-F238E27FC236}">
                    <a16:creationId xmlns:a16="http://schemas.microsoft.com/office/drawing/2014/main" id="{8E60A7C3-087D-47B4-AB5A-C8B1042FD2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20" name="Freeform 7">
                <a:extLst>
                  <a:ext uri="{FF2B5EF4-FFF2-40B4-BE49-F238E27FC236}">
                    <a16:creationId xmlns:a16="http://schemas.microsoft.com/office/drawing/2014/main" id="{1885EECE-F6D9-4128-BC90-01583BF269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21" name="Freeform 8">
                <a:extLst>
                  <a:ext uri="{FF2B5EF4-FFF2-40B4-BE49-F238E27FC236}">
                    <a16:creationId xmlns:a16="http://schemas.microsoft.com/office/drawing/2014/main" id="{F44AA128-AA96-4FF2-A1C3-F9D2E7FD38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22" name="Freeform 9">
                <a:extLst>
                  <a:ext uri="{FF2B5EF4-FFF2-40B4-BE49-F238E27FC236}">
                    <a16:creationId xmlns:a16="http://schemas.microsoft.com/office/drawing/2014/main" id="{7E52DC12-230B-4892-B284-F2FE9DE16A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23" name="Freeform 10">
                <a:extLst>
                  <a:ext uri="{FF2B5EF4-FFF2-40B4-BE49-F238E27FC236}">
                    <a16:creationId xmlns:a16="http://schemas.microsoft.com/office/drawing/2014/main" id="{A68FBF9E-B81A-41D0-8A03-6CFC30811D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24" name="Freeform 11">
                <a:extLst>
                  <a:ext uri="{FF2B5EF4-FFF2-40B4-BE49-F238E27FC236}">
                    <a16:creationId xmlns:a16="http://schemas.microsoft.com/office/drawing/2014/main" id="{B0047F84-8480-494F-9241-39FF17CFF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25" name="Freeform 12">
                <a:extLst>
                  <a:ext uri="{FF2B5EF4-FFF2-40B4-BE49-F238E27FC236}">
                    <a16:creationId xmlns:a16="http://schemas.microsoft.com/office/drawing/2014/main" id="{8CAF76D8-4B95-4A8E-9EE5-8CCC0A7AD2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26" name="Freeform 13">
                <a:extLst>
                  <a:ext uri="{FF2B5EF4-FFF2-40B4-BE49-F238E27FC236}">
                    <a16:creationId xmlns:a16="http://schemas.microsoft.com/office/drawing/2014/main" id="{792F82F3-05A8-4A55-8C5B-81F6678B59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27" name="Freeform 14">
                <a:extLst>
                  <a:ext uri="{FF2B5EF4-FFF2-40B4-BE49-F238E27FC236}">
                    <a16:creationId xmlns:a16="http://schemas.microsoft.com/office/drawing/2014/main" id="{B8472536-021A-4E59-BD59-DDC090A18A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28" name="Freeform 15">
                <a:extLst>
                  <a:ext uri="{FF2B5EF4-FFF2-40B4-BE49-F238E27FC236}">
                    <a16:creationId xmlns:a16="http://schemas.microsoft.com/office/drawing/2014/main" id="{AEBEF646-3C12-469F-B194-A161A7A95D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29" name="Line 16">
                <a:extLst>
                  <a:ext uri="{FF2B5EF4-FFF2-40B4-BE49-F238E27FC236}">
                    <a16:creationId xmlns:a16="http://schemas.microsoft.com/office/drawing/2014/main" id="{D4501159-D7AC-4307-9DFC-C8F3A94341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30" name="Freeform 17">
                <a:extLst>
                  <a:ext uri="{FF2B5EF4-FFF2-40B4-BE49-F238E27FC236}">
                    <a16:creationId xmlns:a16="http://schemas.microsoft.com/office/drawing/2014/main" id="{B5244C41-454C-47D8-A6A9-C17EC2A366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31" name="Freeform 18">
                <a:extLst>
                  <a:ext uri="{FF2B5EF4-FFF2-40B4-BE49-F238E27FC236}">
                    <a16:creationId xmlns:a16="http://schemas.microsoft.com/office/drawing/2014/main" id="{8FA883B8-99FB-4540-B573-F0674BFB1C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32" name="Freeform 19">
                <a:extLst>
                  <a:ext uri="{FF2B5EF4-FFF2-40B4-BE49-F238E27FC236}">
                    <a16:creationId xmlns:a16="http://schemas.microsoft.com/office/drawing/2014/main" id="{F1178B7C-5A00-4E5B-9010-B1477621E0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33" name="Freeform 20">
                <a:extLst>
                  <a:ext uri="{FF2B5EF4-FFF2-40B4-BE49-F238E27FC236}">
                    <a16:creationId xmlns:a16="http://schemas.microsoft.com/office/drawing/2014/main" id="{E359D5D8-EE2E-4714-A40A-C3A6D91F98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34" name="Rectangle 21">
                <a:extLst>
                  <a:ext uri="{FF2B5EF4-FFF2-40B4-BE49-F238E27FC236}">
                    <a16:creationId xmlns:a16="http://schemas.microsoft.com/office/drawing/2014/main" id="{8A89C2E5-F892-4666-85FB-995578FBC7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35" name="Freeform 22">
                <a:extLst>
                  <a:ext uri="{FF2B5EF4-FFF2-40B4-BE49-F238E27FC236}">
                    <a16:creationId xmlns:a16="http://schemas.microsoft.com/office/drawing/2014/main" id="{6DC6174B-0EC3-4A81-A0D1-D10DBB869A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36" name="Freeform 23">
                <a:extLst>
                  <a:ext uri="{FF2B5EF4-FFF2-40B4-BE49-F238E27FC236}">
                    <a16:creationId xmlns:a16="http://schemas.microsoft.com/office/drawing/2014/main" id="{2CB96070-0553-4F79-984C-8DABB1CD5D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37" name="Freeform 24">
                <a:extLst>
                  <a:ext uri="{FF2B5EF4-FFF2-40B4-BE49-F238E27FC236}">
                    <a16:creationId xmlns:a16="http://schemas.microsoft.com/office/drawing/2014/main" id="{BA23B6E2-3718-4009-B80E-9279154B19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38" name="Freeform 25">
                <a:extLst>
                  <a:ext uri="{FF2B5EF4-FFF2-40B4-BE49-F238E27FC236}">
                    <a16:creationId xmlns:a16="http://schemas.microsoft.com/office/drawing/2014/main" id="{CAFB32D5-E528-419B-80EE-1475633970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39" name="Freeform 26">
                <a:extLst>
                  <a:ext uri="{FF2B5EF4-FFF2-40B4-BE49-F238E27FC236}">
                    <a16:creationId xmlns:a16="http://schemas.microsoft.com/office/drawing/2014/main" id="{A68ADD35-4FEA-404D-B2F3-23556E6E8F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40" name="Freeform 27">
                <a:extLst>
                  <a:ext uri="{FF2B5EF4-FFF2-40B4-BE49-F238E27FC236}">
                    <a16:creationId xmlns:a16="http://schemas.microsoft.com/office/drawing/2014/main" id="{89CF17CA-49E3-4B4A-836A-4FD55C67BE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41" name="Freeform 28">
                <a:extLst>
                  <a:ext uri="{FF2B5EF4-FFF2-40B4-BE49-F238E27FC236}">
                    <a16:creationId xmlns:a16="http://schemas.microsoft.com/office/drawing/2014/main" id="{AB394F2E-F3E7-4CED-84A9-35C47AB287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42" name="Freeform 29">
                <a:extLst>
                  <a:ext uri="{FF2B5EF4-FFF2-40B4-BE49-F238E27FC236}">
                    <a16:creationId xmlns:a16="http://schemas.microsoft.com/office/drawing/2014/main" id="{FF816C2F-3999-4A9F-8395-5D68ED33A4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43" name="Freeform 30">
                <a:extLst>
                  <a:ext uri="{FF2B5EF4-FFF2-40B4-BE49-F238E27FC236}">
                    <a16:creationId xmlns:a16="http://schemas.microsoft.com/office/drawing/2014/main" id="{82AD6AC6-71D5-4BD8-9185-D3062968B5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44" name="Freeform 31">
                <a:extLst>
                  <a:ext uri="{FF2B5EF4-FFF2-40B4-BE49-F238E27FC236}">
                    <a16:creationId xmlns:a16="http://schemas.microsoft.com/office/drawing/2014/main" id="{743A50C2-65CF-4F4C-B412-6149A93ACF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4107" name="Group 4106">
              <a:extLst>
                <a:ext uri="{FF2B5EF4-FFF2-40B4-BE49-F238E27FC236}">
                  <a16:creationId xmlns:a16="http://schemas.microsoft.com/office/drawing/2014/main" id="{6C0E7A88-FEDF-4C4F-A6B4-F7DDE9DE92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227597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4108" name="Freeform 32">
                <a:extLst>
                  <a:ext uri="{FF2B5EF4-FFF2-40B4-BE49-F238E27FC236}">
                    <a16:creationId xmlns:a16="http://schemas.microsoft.com/office/drawing/2014/main" id="{AE94B3EE-D5C0-4BDE-B6AA-7599F0486E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09" name="Freeform 33">
                <a:extLst>
                  <a:ext uri="{FF2B5EF4-FFF2-40B4-BE49-F238E27FC236}">
                    <a16:creationId xmlns:a16="http://schemas.microsoft.com/office/drawing/2014/main" id="{5EF110E8-C00D-454E-8F3A-ECF2D35667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10" name="Freeform 34">
                <a:extLst>
                  <a:ext uri="{FF2B5EF4-FFF2-40B4-BE49-F238E27FC236}">
                    <a16:creationId xmlns:a16="http://schemas.microsoft.com/office/drawing/2014/main" id="{BFC5F327-6927-4F35-9AF6-C45527BB45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11" name="Freeform 35">
                <a:extLst>
                  <a:ext uri="{FF2B5EF4-FFF2-40B4-BE49-F238E27FC236}">
                    <a16:creationId xmlns:a16="http://schemas.microsoft.com/office/drawing/2014/main" id="{BF2D314D-AEDE-418D-9702-D3CDB98C3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12" name="Freeform 36">
                <a:extLst>
                  <a:ext uri="{FF2B5EF4-FFF2-40B4-BE49-F238E27FC236}">
                    <a16:creationId xmlns:a16="http://schemas.microsoft.com/office/drawing/2014/main" id="{64FD07F8-3CA6-4209-9A9E-30609FE9A3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13" name="Freeform 37">
                <a:extLst>
                  <a:ext uri="{FF2B5EF4-FFF2-40B4-BE49-F238E27FC236}">
                    <a16:creationId xmlns:a16="http://schemas.microsoft.com/office/drawing/2014/main" id="{AB0AE24D-CD49-4B57-82E0-780F62AE4F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14" name="Freeform 38">
                <a:extLst>
                  <a:ext uri="{FF2B5EF4-FFF2-40B4-BE49-F238E27FC236}">
                    <a16:creationId xmlns:a16="http://schemas.microsoft.com/office/drawing/2014/main" id="{66803AF8-6368-45E6-A0B7-C0C4CFFEEB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15" name="Freeform 39">
                <a:extLst>
                  <a:ext uri="{FF2B5EF4-FFF2-40B4-BE49-F238E27FC236}">
                    <a16:creationId xmlns:a16="http://schemas.microsoft.com/office/drawing/2014/main" id="{B4761E05-2792-472B-A814-9616151CF3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16" name="Freeform 40">
                <a:extLst>
                  <a:ext uri="{FF2B5EF4-FFF2-40B4-BE49-F238E27FC236}">
                    <a16:creationId xmlns:a16="http://schemas.microsoft.com/office/drawing/2014/main" id="{40B6A261-9427-4E70-9564-048AD009BD8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17" name="Rectangle 41">
                <a:extLst>
                  <a:ext uri="{FF2B5EF4-FFF2-40B4-BE49-F238E27FC236}">
                    <a16:creationId xmlns:a16="http://schemas.microsoft.com/office/drawing/2014/main" id="{68BFDFBE-2286-4123-9436-E1DF84AF49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pic>
        <p:nvPicPr>
          <p:cNvPr id="4146" name="Picture 2">
            <a:extLst>
              <a:ext uri="{FF2B5EF4-FFF2-40B4-BE49-F238E27FC236}">
                <a16:creationId xmlns:a16="http://schemas.microsoft.com/office/drawing/2014/main" id="{5B3DE270-418F-47A7-B311-C4D876041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DC145E9F-9917-436C-EE16-8AD6B15A2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6041" y="618517"/>
            <a:ext cx="3357010" cy="5145695"/>
          </a:xfrm>
        </p:spPr>
        <p:txBody>
          <a:bodyPr anchor="b">
            <a:normAutofit/>
          </a:bodyPr>
          <a:lstStyle/>
          <a:p>
            <a:r>
              <a:rPr lang="cs-CZ" sz="4800" dirty="0" err="1">
                <a:solidFill>
                  <a:srgbClr val="FFFFFF"/>
                </a:solidFill>
              </a:rPr>
              <a:t>Thank</a:t>
            </a:r>
            <a:r>
              <a:rPr lang="cs-CZ" sz="4800" dirty="0">
                <a:solidFill>
                  <a:srgbClr val="FFFFFF"/>
                </a:solidFill>
              </a:rPr>
              <a:t> </a:t>
            </a:r>
            <a:r>
              <a:rPr lang="cs-CZ" sz="4800" dirty="0" err="1">
                <a:solidFill>
                  <a:srgbClr val="FFFFFF"/>
                </a:solidFill>
              </a:rPr>
              <a:t>you</a:t>
            </a:r>
            <a:r>
              <a:rPr lang="cs-CZ" sz="4800" dirty="0">
                <a:solidFill>
                  <a:srgbClr val="FFFFFF"/>
                </a:solidFill>
              </a:rPr>
              <a:t> </a:t>
            </a:r>
            <a:r>
              <a:rPr lang="cs-CZ" sz="4800" dirty="0" err="1">
                <a:solidFill>
                  <a:srgbClr val="FFFFFF"/>
                </a:solidFill>
              </a:rPr>
              <a:t>for</a:t>
            </a:r>
            <a:r>
              <a:rPr lang="cs-CZ" sz="4800" dirty="0">
                <a:solidFill>
                  <a:srgbClr val="FFFFFF"/>
                </a:solidFill>
              </a:rPr>
              <a:t> </a:t>
            </a:r>
            <a:r>
              <a:rPr lang="cs-CZ" sz="4800" dirty="0" err="1">
                <a:solidFill>
                  <a:srgbClr val="FFFFFF"/>
                </a:solidFill>
              </a:rPr>
              <a:t>your</a:t>
            </a:r>
            <a:r>
              <a:rPr lang="cs-CZ" sz="4800" dirty="0">
                <a:solidFill>
                  <a:srgbClr val="FFFFFF"/>
                </a:solidFill>
              </a:rPr>
              <a:t> </a:t>
            </a:r>
            <a:r>
              <a:rPr lang="cs-CZ" sz="4800" dirty="0" err="1">
                <a:solidFill>
                  <a:srgbClr val="FFFFFF"/>
                </a:solidFill>
              </a:rPr>
              <a:t>attention</a:t>
            </a:r>
            <a:endParaRPr lang="en-GB" sz="4800" dirty="0">
              <a:solidFill>
                <a:srgbClr val="FFFFFF"/>
              </a:solidFill>
            </a:endParaRPr>
          </a:p>
        </p:txBody>
      </p:sp>
      <p:sp useBgFill="1">
        <p:nvSpPr>
          <p:cNvPr id="4148" name="Round Diagonal Corner Rectangle 11">
            <a:extLst>
              <a:ext uri="{FF2B5EF4-FFF2-40B4-BE49-F238E27FC236}">
                <a16:creationId xmlns:a16="http://schemas.microsoft.com/office/drawing/2014/main" id="{A1351C6B-7343-451F-AB4A-1CE294A4E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49" y="808057"/>
            <a:ext cx="6752461" cy="5234394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Drunk Magnus Carlsen CRUSHES FASTEST CHESS PLAYER in Bullet">
            <a:extLst>
              <a:ext uri="{FF2B5EF4-FFF2-40B4-BE49-F238E27FC236}">
                <a16:creationId xmlns:a16="http://schemas.microsoft.com/office/drawing/2014/main" id="{499F7E81-2406-6B43-CD20-72E44750D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8988" y="1707162"/>
            <a:ext cx="6112382" cy="3438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1B06C29-545C-CFE4-2F56-00EDD5328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442" y="68507"/>
            <a:ext cx="3281004" cy="3541714"/>
          </a:xfrm>
        </p:spPr>
        <p:txBody>
          <a:bodyPr>
            <a:normAutofit/>
          </a:bodyPr>
          <a:lstStyle/>
          <a:p>
            <a:endParaRPr lang="en-GB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88362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bvod">
  <a:themeElements>
    <a:clrScheme name="Obvod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Obvod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bvod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TM04033919[[fn=Obvod]]</Template>
  <TotalTime>163</TotalTime>
  <Words>231</Words>
  <Application>Microsoft Office PowerPoint</Application>
  <PresentationFormat>Širokoúhlá obrazovka</PresentationFormat>
  <Paragraphs>49</Paragraphs>
  <Slides>9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2" baseType="lpstr">
      <vt:lpstr>Arial</vt:lpstr>
      <vt:lpstr>Tw Cen MT</vt:lpstr>
      <vt:lpstr>Obvod</vt:lpstr>
      <vt:lpstr>CHESS ENGINES</vt:lpstr>
      <vt:lpstr>OUTLINE of the presentation</vt:lpstr>
      <vt:lpstr>What is a chess engine?</vt:lpstr>
      <vt:lpstr>How chess engines work</vt:lpstr>
      <vt:lpstr>CHESS ENGINE STRENGth</vt:lpstr>
      <vt:lpstr>World computer chess championship</vt:lpstr>
      <vt:lpstr>Chess engines today</vt:lpstr>
      <vt:lpstr>Kasparov vs. The world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Lipus Petr</dc:creator>
  <cp:lastModifiedBy>Lipus Petr</cp:lastModifiedBy>
  <cp:revision>2</cp:revision>
  <dcterms:created xsi:type="dcterms:W3CDTF">2026-04-20T09:26:12Z</dcterms:created>
  <dcterms:modified xsi:type="dcterms:W3CDTF">2026-04-20T16:33:35Z</dcterms:modified>
</cp:coreProperties>
</file>